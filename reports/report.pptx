
<file path=[Content_Types].xml><?xml version="1.0" encoding="utf-8"?>
<Types xmlns="http://schemas.openxmlformats.org/package/2006/content-types">
  <Default Extension="jpeg" ContentType="image/jpe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6"/>
  </p:handoutMasterIdLst>
  <p:sldIdLst>
    <p:sldId id="266" r:id="rId3"/>
    <p:sldId id="257" r:id="rId5"/>
    <p:sldId id="265" r:id="rId6"/>
    <p:sldId id="269" r:id="rId7"/>
    <p:sldId id="271" r:id="rId8"/>
    <p:sldId id="273" r:id="rId9"/>
    <p:sldId id="272" r:id="rId10"/>
    <p:sldId id="276" r:id="rId11"/>
    <p:sldId id="277" r:id="rId12"/>
    <p:sldId id="278" r:id="rId13"/>
    <p:sldId id="279" r:id="rId14"/>
    <p:sldId id="280" r:id="rId1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7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  <a:latin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765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" panose="020F0502020204030204" charset="0"/>
          <a:ea typeface="+mj-ea"/>
          <a:cs typeface="Calibri" panose="020F050202020403020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charset="0"/>
          <a:ea typeface="+mn-ea"/>
          <a:cs typeface="Calibri" panose="020F050202020403020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charset="0"/>
          <a:ea typeface="+mn-ea"/>
          <a:cs typeface="Calibri" panose="020F050202020403020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+mn-ea"/>
          <a:cs typeface="Calibri" panose="020F050202020403020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+mn-ea"/>
          <a:cs typeface="Calibri" panose="020F050202020403020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+mn-ea"/>
          <a:cs typeface="Calibri" panose="020F050202020403020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GI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844550"/>
          </a:xfrm>
        </p:spPr>
        <p:txBody>
          <a:bodyPr/>
          <a:p>
            <a:r>
              <a:rPr lang="en-US" altLang="en-US"/>
              <a:t>Patch and large scale correction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278255"/>
            <a:ext cx="10515600" cy="1871980"/>
          </a:xfrm>
        </p:spPr>
        <p:txBody>
          <a:bodyPr>
            <a:normAutofit fontScale="90000" lnSpcReduction="20000"/>
          </a:bodyPr>
          <a:p>
            <a:r>
              <a:rPr lang="en-US" altLang="en-US"/>
              <a:t>Purpose: SUIT Level 2 corrected data has some remnant contaminant (esp large patches), limb darkening and assymmetric scattered light remnant.</a:t>
            </a:r>
            <a:endParaRPr lang="en-US" altLang="en-US"/>
          </a:p>
          <a:p>
            <a:r>
              <a:rPr lang="en-US" altLang="en-US"/>
              <a:t>Images are aligned based on solar limb.</a:t>
            </a:r>
            <a:endParaRPr lang="en-US" altLang="en-US"/>
          </a:p>
          <a:p>
            <a:r>
              <a:rPr lang="en-US" altLang="en-US"/>
              <a:t>Median stacked image is blurred to preserve large patches and remove solar features.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5" name="Picture 4"/>
          <p:cNvPicPr/>
          <p:nvPr/>
        </p:nvPicPr>
        <p:blipFill>
          <a:blip r:embed="rId1"/>
          <a:srcRect r="-348"/>
          <a:stretch>
            <a:fillRect/>
          </a:stretch>
        </p:blipFill>
        <p:spPr>
          <a:xfrm>
            <a:off x="93980" y="3228340"/>
            <a:ext cx="12004675" cy="3561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340360"/>
            <a:ext cx="10515600" cy="1544320"/>
          </a:xfrm>
        </p:spPr>
        <p:txBody>
          <a:bodyPr>
            <a:normAutofit fontScale="90000"/>
          </a:bodyPr>
          <a:p>
            <a:r>
              <a:rPr lang="en-US" altLang="en-US"/>
              <a:t>Purpose: Find optimal blur radius to remove solar features from calib frame- </a:t>
            </a:r>
            <a:br>
              <a:rPr lang="en-US" altLang="en-US"/>
            </a:br>
            <a:r>
              <a:rPr lang="en-US" altLang="en-US" sz="2800" i="1"/>
              <a:t>50-75 px seems most optimal.</a:t>
            </a:r>
            <a:endParaRPr lang="en-US" altLang="en-US" sz="2800" i="1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47700" y="1835150"/>
            <a:ext cx="10695305" cy="49002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Standard deviation within a box at different levels of blurring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4930" y="1941195"/>
            <a:ext cx="6050280" cy="43516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995" y="1941195"/>
            <a:ext cx="5671820" cy="42646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NB02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90215" y="1316355"/>
            <a:ext cx="9134475" cy="5316855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/>
        </p:nvSpPr>
        <p:spPr>
          <a:xfrm>
            <a:off x="179070" y="1825625"/>
            <a:ext cx="2881630" cy="43516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+mn-ea"/>
                <a:cs typeface="Calibri" panose="020F050202020403020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+mn-ea"/>
                <a:cs typeface="Calibri" panose="020F050202020403020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+mn-ea"/>
                <a:cs typeface="Calibri" panose="020F050202020403020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+mn-ea"/>
                <a:cs typeface="Calibri" panose="020F050202020403020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+mn-ea"/>
                <a:cs typeface="Calibri" panose="020F050202020403020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Observations available for 2025-04-10,11,12,14,18</a:t>
            </a:r>
            <a:endParaRPr lang="en-US" altLang="en-US"/>
          </a:p>
          <a:p>
            <a:r>
              <a:rPr lang="en-US" altLang="en-US"/>
              <a:t>Big patches are visible whenever continuous observations are not available.</a:t>
            </a:r>
            <a:endParaRPr lang="en-US" altLang="en-US"/>
          </a:p>
          <a:p>
            <a:r>
              <a:rPr lang="en-US" altLang="en-US"/>
              <a:t>Some small scale contaminants are seen still.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endParaRPr lang="en-US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10575925" y="126365"/>
            <a:ext cx="13512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en-US">
                <a:sym typeface="+mn-ea"/>
              </a:rPr>
              <a:t>2026-07-29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84785"/>
            <a:ext cx="10515600" cy="871855"/>
          </a:xfrm>
        </p:spPr>
        <p:txBody>
          <a:bodyPr/>
          <a:p>
            <a:r>
              <a:rPr lang="en-US" altLang="en-US"/>
              <a:t>NB02: Same date range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87780" y="974090"/>
            <a:ext cx="9875520" cy="57486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7800" y="247650"/>
            <a:ext cx="11905615" cy="66300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7050" y="178435"/>
            <a:ext cx="10515600" cy="1325563"/>
          </a:xfrm>
        </p:spPr>
        <p:txBody>
          <a:bodyPr/>
          <a:p>
            <a:r>
              <a:rPr lang="en-US" altLang="en-US"/>
              <a:t>NB05</a:t>
            </a: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8613775" y="5236845"/>
            <a:ext cx="254000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ym typeface="+mn-ea"/>
              </a:rPr>
              <a:t>Larger patches are less prominent.</a:t>
            </a:r>
            <a:endParaRPr lang="en-US" altLang="en-US"/>
          </a:p>
          <a:p>
            <a:r>
              <a:rPr lang="en-US" altLang="en-US">
                <a:sym typeface="+mn-ea"/>
              </a:rPr>
              <a:t>Small scale contaminants are seen in some places.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Issues faced and possible solutions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Larger patches are less prominent.</a:t>
            </a:r>
            <a:endParaRPr lang="en-US" altLang="en-US"/>
          </a:p>
          <a:p>
            <a:r>
              <a:rPr lang="en-US" altLang="en-US"/>
              <a:t>Small scale contaminants are seen in some places.</a:t>
            </a:r>
            <a:endParaRPr lang="en-US" altLang="en-US"/>
          </a:p>
          <a:p>
            <a:r>
              <a:rPr lang="en-US" altLang="en-US"/>
              <a:t>One reason for this could be that the contamination correction images are being made by aligning the Sun.</a:t>
            </a:r>
            <a:endParaRPr lang="en-US" altLang="en-US"/>
          </a:p>
          <a:p>
            <a:r>
              <a:rPr lang="en-US" altLang="en-US"/>
              <a:t>But this should not be done. That should help.</a:t>
            </a:r>
            <a:endParaRPr lang="en-US" altLang="en-US"/>
          </a:p>
          <a:p>
            <a:r>
              <a:rPr lang="en-US" altLang="en-US"/>
              <a:t>Also, the image is blurred by 50px. That too will take away all contaminant patches from the calibration frame.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606415" y="410845"/>
            <a:ext cx="6247765" cy="631761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11810" y="1910715"/>
            <a:ext cx="5094605" cy="3317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A large scale pattern is seen after correction. </a:t>
            </a:r>
            <a:endParaRPr lang="en-US" altLang="en-US"/>
          </a:p>
          <a:p>
            <a:r>
              <a:rPr lang="en-US" altLang="en-US"/>
              <a:t>This is not a contamination patch.</a:t>
            </a:r>
            <a:endParaRPr lang="en-US" altLang="en-US"/>
          </a:p>
          <a:p>
            <a:r>
              <a:rPr lang="en-US" altLang="en-US"/>
              <a:t>It has to be corrected from the data.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I</a:t>
            </a:r>
            <a:r>
              <a:rPr lang="en-US" altLang="en-US" baseline="-25000">
                <a:latin typeface="Times New Roman" panose="02020603050405020304" charset="0"/>
                <a:cs typeface="Times New Roman" panose="02020603050405020304" charset="0"/>
              </a:rPr>
              <a:t>data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= I</a:t>
            </a:r>
            <a:r>
              <a:rPr lang="en-US" altLang="en-US" baseline="-25000">
                <a:latin typeface="Times New Roman" panose="02020603050405020304" charset="0"/>
                <a:cs typeface="Times New Roman" panose="02020603050405020304" charset="0"/>
              </a:rPr>
              <a:t>sun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* I</a:t>
            </a:r>
            <a:r>
              <a:rPr lang="en-US" altLang="en-US" baseline="-25000">
                <a:latin typeface="Times New Roman" panose="02020603050405020304" charset="0"/>
                <a:cs typeface="Times New Roman" panose="02020603050405020304" charset="0"/>
              </a:rPr>
              <a:t>patch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* I</a:t>
            </a:r>
            <a:r>
              <a:rPr lang="en-US" altLang="en-US" baseline="-25000">
                <a:latin typeface="Times New Roman" panose="02020603050405020304" charset="0"/>
                <a:cs typeface="Times New Roman" panose="02020603050405020304" charset="0"/>
              </a:rPr>
              <a:t>assy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* I</a:t>
            </a:r>
            <a:r>
              <a:rPr lang="en-US" altLang="en-US" baseline="-25000">
                <a:latin typeface="Times New Roman" panose="02020603050405020304" charset="0"/>
                <a:cs typeface="Times New Roman" panose="02020603050405020304" charset="0"/>
              </a:rPr>
              <a:t>limbdkr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* I</a:t>
            </a:r>
            <a:r>
              <a:rPr lang="en-US" altLang="en-US" baseline="-25000">
                <a:latin typeface="Times New Roman" panose="02020603050405020304" charset="0"/>
                <a:cs typeface="Times New Roman" panose="02020603050405020304" charset="0"/>
              </a:rPr>
              <a:t>excess</a:t>
            </a:r>
            <a:endParaRPr lang="en-US" altLang="en-US" baseline="-25000"/>
          </a:p>
          <a:p>
            <a:endParaRPr lang="en-US" altLang="en-US" baseline="-25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We have to Isolate I</a:t>
            </a:r>
            <a:r>
              <a:rPr lang="en-US" altLang="en-US" baseline="-25000"/>
              <a:t>sun</a:t>
            </a:r>
            <a:r>
              <a:rPr lang="en-US" altLang="en-US"/>
              <a:t> which has only solar features.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We have to characterize I</a:t>
            </a:r>
            <a:r>
              <a:rPr lang="en-US" altLang="en-US" baseline="-25000"/>
              <a:t>excess</a:t>
            </a:r>
            <a:r>
              <a:rPr lang="en-US" altLang="en-US"/>
              <a:t> in some way.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altLang="en-US"/>
              <a:t>I</a:t>
            </a:r>
            <a:r>
              <a:rPr lang="en-US" altLang="en-US" baseline="-25000"/>
              <a:t>patch</a:t>
            </a:r>
            <a:r>
              <a:rPr lang="en-US" altLang="en-US"/>
              <a:t> to be corrected by JJ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altLang="en-US"/>
              <a:t>I</a:t>
            </a:r>
            <a:r>
              <a:rPr lang="en-US" altLang="en-US" baseline="-25000"/>
              <a:t>assy</a:t>
            </a:r>
            <a:r>
              <a:rPr lang="en-US" altLang="en-US"/>
              <a:t>: Flat from Nived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altLang="en-US"/>
              <a:t>I</a:t>
            </a:r>
            <a:r>
              <a:rPr lang="en-US" altLang="en-US" baseline="-25000"/>
              <a:t>limbdkr</a:t>
            </a:r>
            <a:r>
              <a:rPr lang="en-US" altLang="en-US"/>
              <a:t>: From Nived</a:t>
            </a:r>
            <a:endParaRPr lang="en-US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497820" cy="750570"/>
          </a:xfrm>
        </p:spPr>
        <p:txBody>
          <a:bodyPr>
            <a:noAutofit/>
          </a:bodyPr>
          <a:p>
            <a:r>
              <a:rPr lang="en-US" altLang="en-US" sz="2400">
                <a:sym typeface="+mn-ea"/>
              </a:rPr>
              <a:t>NB06 assymmetry profiles and NB06 limb darkeining profiles from Nived</a:t>
            </a:r>
            <a:endParaRPr lang="en-US" altLang="en-US" sz="2400"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1217275" y="28575"/>
            <a:ext cx="767080" cy="2298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en-US" sz="900">
                <a:sym typeface="+mn-ea"/>
              </a:rPr>
              <a:t>2026-08-05</a:t>
            </a:r>
            <a:endParaRPr lang="en-US" altLang="en-US" sz="900"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070" y="645160"/>
            <a:ext cx="3194685" cy="1325880"/>
          </a:xfrm>
        </p:spPr>
        <p:txBody>
          <a:bodyPr>
            <a:normAutofit fontScale="90000"/>
          </a:bodyPr>
          <a:p>
            <a:r>
              <a:rPr lang="en-US" altLang="en-US"/>
              <a:t>Median stack (NB06)</a:t>
            </a:r>
            <a:endParaRPr lang="en-US" alt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931410" y="405130"/>
            <a:ext cx="7228205" cy="630999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03275" y="2431415"/>
            <a:ext cx="380301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Median stack (NB06)</a:t>
            </a:r>
            <a:endParaRPr lang="en-US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All data 10-12 Apr 2025</a:t>
            </a:r>
            <a:endParaRPr lang="en-US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Limb darkening and large scale assymmetry included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Figure_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" y="890270"/>
            <a:ext cx="12014200" cy="2940685"/>
          </a:xfrm>
          <a:prstGeom prst="rect">
            <a:avLst/>
          </a:prstGeom>
        </p:spPr>
      </p:pic>
      <p:pic>
        <p:nvPicPr>
          <p:cNvPr id="5" name="Picture 4" descr="Figure_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" y="3866515"/>
            <a:ext cx="12014200" cy="294068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6265" y="7620"/>
            <a:ext cx="10515600" cy="1325563"/>
          </a:xfrm>
        </p:spPr>
        <p:txBody>
          <a:bodyPr/>
          <a:p>
            <a:r>
              <a:rPr lang="en-US" altLang="en-US" sz="2800"/>
              <a:t>Post limb darkening correction-</a:t>
            </a:r>
            <a:endParaRPr lang="en-US" altLang="en-US" sz="2800"/>
          </a:p>
        </p:txBody>
      </p:sp>
      <p:sp>
        <p:nvSpPr>
          <p:cNvPr id="6" name="Text Box 5"/>
          <p:cNvSpPr txBox="1"/>
          <p:nvPr/>
        </p:nvSpPr>
        <p:spPr>
          <a:xfrm>
            <a:off x="5420360" y="306705"/>
            <a:ext cx="64249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600"/>
              <a:t>Most of the diagonal stripes are gone. Major patches are gone. Small scale artefacts are still visible. Blurring 15px might help.</a:t>
            </a:r>
            <a:endParaRPr lang="en-US" altLang="en-US"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output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731385" y="699135"/>
            <a:ext cx="7539990" cy="5655945"/>
          </a:xfrm>
          <a:prstGeom prst="rect">
            <a:avLst/>
          </a:prstGeom>
        </p:spPr>
      </p:pic>
      <p:sp>
        <p:nvSpPr>
          <p:cNvPr id="6" name="Content Placeholder 2"/>
          <p:cNvSpPr>
            <a:spLocks noGrp="1"/>
          </p:cNvSpPr>
          <p:nvPr/>
        </p:nvSpPr>
        <p:spPr>
          <a:xfrm>
            <a:off x="647700" y="1825625"/>
            <a:ext cx="4693285" cy="4351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0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+mn-ea"/>
                <a:cs typeface="Calibri" panose="020F050202020403020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+mn-ea"/>
                <a:cs typeface="Calibri" panose="020F050202020403020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+mn-ea"/>
                <a:cs typeface="Calibri" panose="020F050202020403020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+mn-ea"/>
                <a:cs typeface="Calibri" panose="020F050202020403020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+mn-ea"/>
                <a:cs typeface="Calibri" panose="020F050202020403020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>
                <a:sym typeface="+mn-ea"/>
              </a:rPr>
              <a:t>The calibration frames are generated without masking any active regions.</a:t>
            </a:r>
            <a:endParaRPr lang="en-US" altLang="en-US"/>
          </a:p>
          <a:p>
            <a:r>
              <a:rPr lang="en-US" altLang="en-US">
                <a:sym typeface="+mn-ea"/>
              </a:rPr>
              <a:t>Initial assumption was that the active regions will be covered by sufficient amount of QS.</a:t>
            </a:r>
            <a:endParaRPr lang="en-US" altLang="en-US"/>
          </a:p>
          <a:p>
            <a:r>
              <a:rPr lang="en-US" altLang="en-US">
                <a:sym typeface="+mn-ea"/>
              </a:rPr>
              <a:t>A bracket of all NB06 images within 3 days are used for the calibration.</a:t>
            </a:r>
            <a:endParaRPr lang="en-US" altLang="en-US"/>
          </a:p>
          <a:p>
            <a:r>
              <a:rPr lang="en-US" altLang="en-US">
                <a:sym typeface="+mn-ea"/>
              </a:rPr>
              <a:t>On going through the frames rapidly, it is clear that signatures of ARs exist in the calibration file.</a:t>
            </a:r>
            <a:endParaRPr lang="en-US" altLang="en-US"/>
          </a:p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887095"/>
          </a:xfrm>
        </p:spPr>
        <p:txBody>
          <a:bodyPr/>
          <a:p>
            <a:r>
              <a:rPr lang="en-US" altLang="en-US" sz="3600"/>
              <a:t>Solar features in calibration frames</a:t>
            </a:r>
            <a:endParaRPr lang="en-US" altLang="en-US" sz="3600"/>
          </a:p>
        </p:txBody>
      </p:sp>
      <p:sp>
        <p:nvSpPr>
          <p:cNvPr id="3" name="Text Box 2"/>
          <p:cNvSpPr txBox="1"/>
          <p:nvPr/>
        </p:nvSpPr>
        <p:spPr>
          <a:xfrm>
            <a:off x="5692140" y="6024880"/>
            <a:ext cx="5031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" altLang="en-US"/>
              <a:t>Go to slideshow mode for animation to play</a:t>
            </a:r>
            <a:endParaRPr lang="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" altLang="en-US"/>
              <a:t>Removing solar features</a:t>
            </a:r>
            <a:endParaRPr lang="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5456555" cy="4351655"/>
          </a:xfrm>
        </p:spPr>
        <p:txBody>
          <a:bodyPr/>
          <a:p>
            <a:r>
              <a:rPr lang="" altLang="en-US"/>
              <a:t>Noise level for HMI Blos is |B| &lt; 10G</a:t>
            </a:r>
            <a:endParaRPr lang="" altLang="en-US"/>
          </a:p>
          <a:p>
            <a:r>
              <a:rPr lang="" altLang="en-US"/>
              <a:t>Threshold is set for |B| &gt; 50</a:t>
            </a:r>
            <a:endParaRPr lang="" altLang="en-US"/>
          </a:p>
          <a:p>
            <a:r>
              <a:rPr lang="" altLang="en-US"/>
              <a:t>HMI BLOS are gaussian blurred to match SUIT resolution.</a:t>
            </a:r>
            <a:endParaRPr lang="" altLang="en-US"/>
          </a:p>
          <a:p>
            <a:r>
              <a:rPr lang="" altLang="en-US"/>
              <a:t>Masked regions are removed and calib frames are generated.</a:t>
            </a:r>
            <a:endParaRPr lang="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2439</Words>
  <Application>WPS Presentation</Application>
  <PresentationFormat>宽屏</PresentationFormat>
  <Paragraphs>81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Times New Roman</vt:lpstr>
      <vt:lpstr>Wingdings</vt:lpstr>
      <vt:lpstr>微软雅黑</vt:lpstr>
      <vt:lpstr>Arial Unicode MS</vt:lpstr>
      <vt:lpstr>宋体</vt:lpstr>
      <vt:lpstr>Office Theme</vt:lpstr>
      <vt:lpstr>Patch and large scale correction</vt:lpstr>
      <vt:lpstr>Purpose: Find optimal blur radius to remove solar features from calib frame-  50-75 px seems most optimal.</vt:lpstr>
      <vt:lpstr>Standard deviation within a box at different levels of blurring</vt:lpstr>
      <vt:lpstr>NB02</vt:lpstr>
      <vt:lpstr>NB02: Same date range</vt:lpstr>
      <vt:lpstr>NB05</vt:lpstr>
      <vt:lpstr>Issues faced and possible solutions</vt:lpstr>
      <vt:lpstr>NB06 assymmetry profiles and NB06 limb darkeining profiles from Nived</vt:lpstr>
      <vt:lpstr>Median stack (NB06)</vt:lpstr>
      <vt:lpstr>Post limb darkening correction-</vt:lpstr>
      <vt:lpstr>Solar features in calibration frames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sarkar</dc:creator>
  <cp:lastModifiedBy>sarkar</cp:lastModifiedBy>
  <cp:revision>38</cp:revision>
  <dcterms:created xsi:type="dcterms:W3CDTF">2026-08-17T13:16:06Z</dcterms:created>
  <dcterms:modified xsi:type="dcterms:W3CDTF">2026-08-17T13:16:06Z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1033-11.1.0.9505</vt:lpwstr>
  </property>
</Properties>
</file>