
<file path=[Content_Types].xml><?xml version="1.0" encoding="utf-8"?>
<Types xmlns="http://schemas.openxmlformats.org/package/2006/content-types">
  <Default Extension="jpeg" ContentType="image/jpeg"/>
  <Default Extension="png" ContentType="image/png"/>
  <Default Extension="gif" ContentType="image/gif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handoutMasterIdLst>
    <p:handoutMasterId r:id="rId18"/>
  </p:handoutMasterIdLst>
  <p:sldIdLst>
    <p:sldId id="266" r:id="rId3"/>
    <p:sldId id="257" r:id="rId5"/>
    <p:sldId id="265" r:id="rId6"/>
    <p:sldId id="269" r:id="rId7"/>
    <p:sldId id="271" r:id="rId8"/>
    <p:sldId id="273" r:id="rId9"/>
    <p:sldId id="272" r:id="rId10"/>
    <p:sldId id="276" r:id="rId11"/>
    <p:sldId id="277" r:id="rId12"/>
    <p:sldId id="278" r:id="rId13"/>
    <p:sldId id="279" r:id="rId14"/>
    <p:sldId id="281" r:id="rId15"/>
    <p:sldId id="280" r:id="rId16"/>
    <p:sldId id="283" r:id="rId17"/>
  </p:sldIdLst>
  <p:sldSz cx="12192000" cy="6858000"/>
  <p:notesSz cx="7103745" cy="1023429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2B2B2"/>
    <a:srgbClr val="202020"/>
    <a:srgbClr val="323232"/>
    <a:srgbClr val="CC3300"/>
    <a:srgbClr val="CC0000"/>
    <a:srgbClr val="FF3300"/>
    <a:srgbClr val="990000"/>
    <a:srgbClr val="FF8D41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278" autoAdjust="0"/>
    <p:restoredTop sz="94660"/>
  </p:normalViewPr>
  <p:slideViewPr>
    <p:cSldViewPr snapToGrid="0" showGuides="1">
      <p:cViewPr varScale="1">
        <p:scale>
          <a:sx n="75" d="100"/>
          <a:sy n="75" d="100"/>
        </p:scale>
        <p:origin x="90" y="96"/>
      </p:cViewPr>
      <p:guideLst>
        <p:guide orient="horz" pos="2157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1" Type="http://schemas.openxmlformats.org/officeDocument/2006/relationships/tableStyles" Target="tableStyles.xml"/><Relationship Id="rId20" Type="http://schemas.openxmlformats.org/officeDocument/2006/relationships/viewProps" Target="viewProps.xml"/><Relationship Id="rId2" Type="http://schemas.openxmlformats.org/officeDocument/2006/relationships/theme" Target="theme/theme1.xml"/><Relationship Id="rId19" Type="http://schemas.openxmlformats.org/officeDocument/2006/relationships/presProps" Target="presProps.xml"/><Relationship Id="rId18" Type="http://schemas.openxmlformats.org/officeDocument/2006/relationships/handoutMaster" Target="handoutMasters/handoutMaster1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/>
          <p:nvPr>
            <p:ph type="sldImg" idx="2"/>
          </p:nvPr>
        </p:nvSpPr>
        <p:spPr/>
      </p:sp>
      <p:sp>
        <p:nvSpPr>
          <p:cNvPr id="3" name="Text Placeholder 2"/>
          <p:cNvSpPr/>
          <p:nvPr>
            <p:ph type="body" idx="3"/>
          </p:nvPr>
        </p:nvSpPr>
        <p:spPr/>
        <p:txBody>
          <a:bodyPr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322962"/>
            <a:ext cx="9144000" cy="2187001"/>
          </a:xfrm>
        </p:spPr>
        <p:txBody>
          <a:bodyPr anchor="b">
            <a:normAutofit/>
          </a:bodyPr>
          <a:lstStyle>
            <a:lvl1pPr algn="ctr">
              <a:lnSpc>
                <a:spcPct val="130000"/>
              </a:lnSpc>
              <a:defRPr sz="6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>
                <a:sym typeface="+mn-ea"/>
              </a:rPr>
              <a:t>Click to edit Master title style</a:t>
            </a:r>
            <a:endParaRPr lang="zh-CN" altLang="en-US" dirty="0">
              <a:sym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+mj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Click to edit Master subtitle style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 anchor="ctr" anchorCtr="0">
            <a:normAutofit/>
          </a:bodyPr>
          <a:lstStyle>
            <a:lvl1pPr>
              <a:defRPr sz="4400" b="0">
                <a:effectLst/>
                <a:latin typeface="Calibri" panose="020F0502020204030204" charset="0"/>
                <a:cs typeface="Calibri" panose="020F0502020204030204" charset="0"/>
              </a:defRPr>
            </a:lvl1pPr>
          </a:lstStyle>
          <a:p>
            <a:r>
              <a:rPr lang="zh-CN" altLang="en-US" dirty="0"/>
              <a:t>Click to edit Master title style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47700" y="1825625"/>
            <a:ext cx="10515600" cy="4351338"/>
          </a:xfrm>
        </p:spPr>
        <p:txBody>
          <a:bodyPr>
            <a:normAutofit/>
          </a:bodyPr>
          <a:lstStyle>
            <a:lvl1pPr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3750945"/>
            <a:ext cx="9848088" cy="811530"/>
          </a:xfrm>
        </p:spPr>
        <p:txBody>
          <a:bodyPr anchor="b">
            <a:normAutofit/>
          </a:bodyPr>
          <a:lstStyle>
            <a:lvl1pPr>
              <a:defRPr sz="4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Click to edit Master title style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610028"/>
            <a:ext cx="7321550" cy="647555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>
            <a:normAutofit/>
          </a:bodyPr>
          <a:lstStyle>
            <a:lvl1pPr>
              <a:defRPr sz="2400" b="1" i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Click to edit Master title style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47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981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Click to edit Master title style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744961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615609"/>
            <a:ext cx="5157787" cy="3574054"/>
          </a:xfrm>
        </p:spPr>
        <p:txBody>
          <a:bodyPr/>
          <a:lstStyle/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744961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615609"/>
            <a:ext cx="5183188" cy="3574054"/>
          </a:xfrm>
        </p:spPr>
        <p:txBody>
          <a:bodyPr/>
          <a:lstStyle/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2766219"/>
            <a:ext cx="10515600" cy="1325563"/>
          </a:xfrm>
        </p:spPr>
        <p:txBody>
          <a:bodyPr>
            <a:normAutofit/>
          </a:bodyPr>
          <a:lstStyle>
            <a:lvl1pPr algn="ctr">
              <a:defRPr sz="4800" b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Click to edit Master title style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6747" y="127000"/>
            <a:ext cx="4165200" cy="1600200"/>
          </a:xfrm>
        </p:spPr>
        <p:txBody>
          <a:bodyPr anchor="ctr" anchorCtr="0">
            <a:normAutofit/>
          </a:bodyPr>
          <a:lstStyle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>
                <a:sym typeface="+mn-ea"/>
              </a:rPr>
              <a:t>Click to edit Master title style</a:t>
            </a:r>
            <a:endParaRPr lang="zh-CN" altLang="en-US" dirty="0">
              <a:sym typeface="+mn-ea"/>
            </a:endParaRPr>
          </a:p>
        </p:txBody>
      </p: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5184000" y="766354"/>
            <a:ext cx="5817375" cy="509444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51827" y="2057400"/>
            <a:ext cx="4165200" cy="3811588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dirty="0"/>
              <a:t>Click to edit Master text styles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cxnSp>
        <p:nvCxnSpPr>
          <p:cNvPr id="8" name="直接连接符 7" hidden="1"/>
          <p:cNvCxnSpPr/>
          <p:nvPr userDrawn="1"/>
        </p:nvCxnSpPr>
        <p:spPr>
          <a:xfrm>
            <a:off x="742950" y="434340"/>
            <a:ext cx="0" cy="139128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824484" y="365125"/>
            <a:ext cx="1529316" cy="5811838"/>
          </a:xfrm>
        </p:spPr>
        <p:txBody>
          <a:bodyPr vert="eaVert">
            <a:normAutofit/>
          </a:bodyPr>
          <a:lstStyle>
            <a:lvl1pPr>
              <a:defRPr sz="3600"/>
            </a:lvl1pPr>
          </a:lstStyle>
          <a:p>
            <a:r>
              <a:rPr lang="zh-CN" altLang="en-US"/>
              <a:t>Click to edit Master title style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8879958" cy="5811838"/>
          </a:xfrm>
        </p:spPr>
        <p:txBody>
          <a:bodyPr vert="eaVert"/>
          <a:lstStyle/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838200" y="551543"/>
            <a:ext cx="10515600" cy="5558971"/>
          </a:xfrm>
        </p:spPr>
        <p:txBody>
          <a:bodyPr/>
          <a:lstStyle/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7655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Click to edit Master title style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Calibri" panose="020F0502020204030204" charset="0"/>
          <a:ea typeface="+mj-ea"/>
          <a:cs typeface="Calibri" panose="020F050202020403020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Calibri" panose="020F0502020204030204" charset="0"/>
          <a:ea typeface="+mn-ea"/>
          <a:cs typeface="Calibri" panose="020F050202020403020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Calibri" panose="020F0502020204030204" charset="0"/>
          <a:ea typeface="+mn-ea"/>
          <a:cs typeface="Calibri" panose="020F050202020403020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libri" panose="020F0502020204030204" charset="0"/>
          <a:ea typeface="+mn-ea"/>
          <a:cs typeface="Calibri" panose="020F050202020403020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libri" panose="020F0502020204030204" charset="0"/>
          <a:ea typeface="+mn-ea"/>
          <a:cs typeface="Calibri" panose="020F050202020403020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libri" panose="020F0502020204030204" charset="0"/>
          <a:ea typeface="+mn-ea"/>
          <a:cs typeface="Calibri" panose="020F050202020403020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1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11.png"/><Relationship Id="rId1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2.GIF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4.GIF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844550"/>
          </a:xfrm>
        </p:spPr>
        <p:txBody>
          <a:bodyPr/>
          <a:p>
            <a:r>
              <a:rPr lang="en-US" altLang="en-US"/>
              <a:t>Patch and large scale correction</a:t>
            </a:r>
            <a:endParaRPr lang="en-US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7700" y="1278255"/>
            <a:ext cx="10515600" cy="1871980"/>
          </a:xfrm>
        </p:spPr>
        <p:txBody>
          <a:bodyPr>
            <a:normAutofit fontScale="90000" lnSpcReduction="20000"/>
          </a:bodyPr>
          <a:p>
            <a:r>
              <a:rPr lang="en-US" altLang="en-US"/>
              <a:t>Purpose: SUIT Level 2 corrected data has some remnant contaminant (esp large patches), limb darkening and assymmetric scattered light remnant.</a:t>
            </a:r>
            <a:endParaRPr lang="en-US" altLang="en-US"/>
          </a:p>
          <a:p>
            <a:r>
              <a:rPr lang="en-US" altLang="en-US"/>
              <a:t>Images are aligned based on solar limb.</a:t>
            </a:r>
            <a:endParaRPr lang="en-US" altLang="en-US"/>
          </a:p>
          <a:p>
            <a:r>
              <a:rPr lang="en-US" altLang="en-US"/>
              <a:t>Median stacked image is blurred to preserve large patches and remove solar features.</a:t>
            </a:r>
            <a:endParaRPr lang="en-US" altLang="en-US"/>
          </a:p>
          <a:p>
            <a:endParaRPr lang="en-US" altLang="en-US"/>
          </a:p>
        </p:txBody>
      </p:sp>
      <p:pic>
        <p:nvPicPr>
          <p:cNvPr id="5" name="Picture 4"/>
          <p:cNvPicPr/>
          <p:nvPr/>
        </p:nvPicPr>
        <p:blipFill>
          <a:blip r:embed="rId1"/>
          <a:srcRect r="-348"/>
          <a:stretch>
            <a:fillRect/>
          </a:stretch>
        </p:blipFill>
        <p:spPr>
          <a:xfrm>
            <a:off x="93980" y="3228340"/>
            <a:ext cx="12004675" cy="35610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7700" y="340360"/>
            <a:ext cx="10515600" cy="1544320"/>
          </a:xfrm>
        </p:spPr>
        <p:txBody>
          <a:bodyPr>
            <a:normAutofit fontScale="90000"/>
          </a:bodyPr>
          <a:p>
            <a:r>
              <a:rPr lang="en-US" altLang="en-US"/>
              <a:t>Purpose: Find optimal blur radius to remove solar features from calib frame- </a:t>
            </a:r>
            <a:br>
              <a:rPr lang="en-US" altLang="en-US"/>
            </a:br>
            <a:r>
              <a:rPr lang="en-US" altLang="en-US" sz="2800" i="1"/>
              <a:t>50-75 px seems most optimal.</a:t>
            </a:r>
            <a:endParaRPr lang="en-US" altLang="en-US" sz="2800" i="1"/>
          </a:p>
        </p:txBody>
      </p:sp>
      <p:pic>
        <p:nvPicPr>
          <p:cNvPr id="4" name="Content Placeholder 3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647700" y="1835150"/>
            <a:ext cx="10695305" cy="490029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p>
            <a:r>
              <a:rPr lang="en-US" altLang="en-US"/>
              <a:t>Standard deviation within a box at different levels of blurring</a:t>
            </a:r>
            <a:endParaRPr lang="en-US" altLang="en-US"/>
          </a:p>
        </p:txBody>
      </p:sp>
      <p:pic>
        <p:nvPicPr>
          <p:cNvPr id="4" name="Content Placeholder 3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74930" y="1941195"/>
            <a:ext cx="6050280" cy="4351655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995" y="1941195"/>
            <a:ext cx="5671820" cy="42646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en-US"/>
              <a:t>NB02</a:t>
            </a:r>
            <a:endParaRPr lang="en-US" altLang="en-US"/>
          </a:p>
        </p:txBody>
      </p:sp>
      <p:pic>
        <p:nvPicPr>
          <p:cNvPr id="4" name="Content Placeholder 3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2990215" y="1316355"/>
            <a:ext cx="9134475" cy="5316855"/>
          </a:xfrm>
          <a:prstGeom prst="rect">
            <a:avLst/>
          </a:prstGeom>
        </p:spPr>
      </p:pic>
      <p:sp>
        <p:nvSpPr>
          <p:cNvPr id="5" name="Content Placeholder 2"/>
          <p:cNvSpPr>
            <a:spLocks noGrp="1"/>
          </p:cNvSpPr>
          <p:nvPr/>
        </p:nvSpPr>
        <p:spPr>
          <a:xfrm>
            <a:off x="179070" y="1825625"/>
            <a:ext cx="2881630" cy="4351655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charset="0"/>
                <a:ea typeface="+mn-ea"/>
                <a:cs typeface="Calibri" panose="020F050202020403020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charset="0"/>
                <a:ea typeface="+mn-ea"/>
                <a:cs typeface="Calibri" panose="020F050202020403020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charset="0"/>
                <a:ea typeface="+mn-ea"/>
                <a:cs typeface="Calibri" panose="020F050202020403020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charset="0"/>
                <a:ea typeface="+mn-ea"/>
                <a:cs typeface="Calibri" panose="020F050202020403020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charset="0"/>
                <a:ea typeface="+mn-ea"/>
                <a:cs typeface="Calibri" panose="020F050202020403020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en-US"/>
              <a:t>Observations available for 2025-04-10,11,12,14,18</a:t>
            </a:r>
            <a:endParaRPr lang="en-US" altLang="en-US"/>
          </a:p>
          <a:p>
            <a:r>
              <a:rPr lang="en-US" altLang="en-US"/>
              <a:t>Big patches are visible whenever continuous observations are not available.</a:t>
            </a:r>
            <a:endParaRPr lang="en-US" altLang="en-US"/>
          </a:p>
          <a:p>
            <a:r>
              <a:rPr lang="en-US" altLang="en-US"/>
              <a:t>Some small scale contaminants are seen still.</a:t>
            </a:r>
            <a:endParaRPr lang="en-US" altLang="en-US"/>
          </a:p>
          <a:p>
            <a:pPr marL="0" indent="0">
              <a:buNone/>
            </a:pPr>
            <a:endParaRPr lang="en-US" altLang="en-US"/>
          </a:p>
          <a:p>
            <a:endParaRPr lang="en-US" altLang="en-US"/>
          </a:p>
        </p:txBody>
      </p:sp>
      <p:sp>
        <p:nvSpPr>
          <p:cNvPr id="6" name="Text Box 5"/>
          <p:cNvSpPr txBox="1"/>
          <p:nvPr/>
        </p:nvSpPr>
        <p:spPr>
          <a:xfrm>
            <a:off x="10575925" y="126365"/>
            <a:ext cx="1351280" cy="368300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p>
            <a:r>
              <a:rPr lang="en-US" altLang="en-US">
                <a:sym typeface="+mn-ea"/>
              </a:rPr>
              <a:t>2026-07-29</a:t>
            </a:r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7700" y="184785"/>
            <a:ext cx="10515600" cy="871855"/>
          </a:xfrm>
        </p:spPr>
        <p:txBody>
          <a:bodyPr/>
          <a:p>
            <a:r>
              <a:rPr lang="en-US" altLang="en-US"/>
              <a:t>NB02: Same date range</a:t>
            </a:r>
            <a:endParaRPr lang="en-US" altLang="en-US"/>
          </a:p>
        </p:txBody>
      </p:sp>
      <p:pic>
        <p:nvPicPr>
          <p:cNvPr id="4" name="Content Placeholder 3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1287780" y="974090"/>
            <a:ext cx="9875520" cy="574865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Content Placeholder 3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177800" y="247650"/>
            <a:ext cx="11905615" cy="6630035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7050" y="178435"/>
            <a:ext cx="10515600" cy="1325563"/>
          </a:xfrm>
        </p:spPr>
        <p:txBody>
          <a:bodyPr/>
          <a:p>
            <a:r>
              <a:rPr lang="en-US" altLang="en-US"/>
              <a:t>NB05</a:t>
            </a:r>
            <a:endParaRPr lang="en-US" altLang="en-US"/>
          </a:p>
        </p:txBody>
      </p:sp>
      <p:sp>
        <p:nvSpPr>
          <p:cNvPr id="5" name="Text Box 4"/>
          <p:cNvSpPr txBox="1"/>
          <p:nvPr/>
        </p:nvSpPr>
        <p:spPr>
          <a:xfrm>
            <a:off x="8613775" y="5236845"/>
            <a:ext cx="2540000" cy="14763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en-US">
                <a:sym typeface="+mn-ea"/>
              </a:rPr>
              <a:t>Larger patches are less prominent.</a:t>
            </a:r>
            <a:endParaRPr lang="en-US" altLang="en-US"/>
          </a:p>
          <a:p>
            <a:r>
              <a:rPr lang="en-US" altLang="en-US">
                <a:sym typeface="+mn-ea"/>
              </a:rPr>
              <a:t>Small scale contaminants are seen in some places.</a:t>
            </a:r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en-US"/>
              <a:t>Issues faced and possible solutions</a:t>
            </a:r>
            <a:endParaRPr lang="en-US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en-US"/>
              <a:t>Larger patches are less prominent.</a:t>
            </a:r>
            <a:endParaRPr lang="en-US" altLang="en-US"/>
          </a:p>
          <a:p>
            <a:r>
              <a:rPr lang="en-US" altLang="en-US"/>
              <a:t>Small scale contaminants are seen in some places.</a:t>
            </a:r>
            <a:endParaRPr lang="en-US" altLang="en-US"/>
          </a:p>
          <a:p>
            <a:r>
              <a:rPr lang="en-US" altLang="en-US"/>
              <a:t>One reason for this could be that the contamination correction images are being made by aligning the Sun.</a:t>
            </a:r>
            <a:endParaRPr lang="en-US" altLang="en-US"/>
          </a:p>
          <a:p>
            <a:r>
              <a:rPr lang="en-US" altLang="en-US"/>
              <a:t>But this should not be done. That should help.</a:t>
            </a:r>
            <a:endParaRPr lang="en-US" altLang="en-US"/>
          </a:p>
          <a:p>
            <a:r>
              <a:rPr lang="en-US" altLang="en-US"/>
              <a:t>Also, the image is blurred by 50px. That too will take away all contaminant patches from the calibration frame.</a:t>
            </a:r>
            <a:endParaRPr lang="en-US" altLang="en-US"/>
          </a:p>
          <a:p>
            <a:endParaRPr lang="en-US" alt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Content Placeholder 3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5606415" y="410845"/>
            <a:ext cx="6247765" cy="6317615"/>
          </a:xfrm>
          <a:prstGeom prst="rect">
            <a:avLst/>
          </a:prstGeom>
        </p:spPr>
      </p:pic>
      <p:sp>
        <p:nvSpPr>
          <p:cNvPr id="5" name="Text Box 4"/>
          <p:cNvSpPr txBox="1"/>
          <p:nvPr/>
        </p:nvSpPr>
        <p:spPr>
          <a:xfrm>
            <a:off x="511810" y="1910715"/>
            <a:ext cx="5094605" cy="33178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US"/>
              <a:t>A large scale pattern is seen after correction. </a:t>
            </a:r>
            <a:endParaRPr lang="en-US" altLang="en-US"/>
          </a:p>
          <a:p>
            <a:r>
              <a:rPr lang="en-US" altLang="en-US"/>
              <a:t>This is not a contamination patch.</a:t>
            </a:r>
            <a:endParaRPr lang="en-US" altLang="en-US"/>
          </a:p>
          <a:p>
            <a:r>
              <a:rPr lang="en-US" altLang="en-US"/>
              <a:t>It has to be corrected from the data.</a:t>
            </a:r>
            <a:endParaRPr lang="en-US" altLang="en-US"/>
          </a:p>
          <a:p>
            <a:endParaRPr lang="en-US" altLang="en-US"/>
          </a:p>
          <a:p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I</a:t>
            </a:r>
            <a:r>
              <a:rPr lang="en-US" altLang="en-US" baseline="-25000">
                <a:latin typeface="Times New Roman" panose="02020603050405020304" charset="0"/>
                <a:cs typeface="Times New Roman" panose="02020603050405020304" charset="0"/>
              </a:rPr>
              <a:t>data</a:t>
            </a:r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= I</a:t>
            </a:r>
            <a:r>
              <a:rPr lang="en-US" altLang="en-US" baseline="-25000">
                <a:latin typeface="Times New Roman" panose="02020603050405020304" charset="0"/>
                <a:cs typeface="Times New Roman" panose="02020603050405020304" charset="0"/>
              </a:rPr>
              <a:t>sun</a:t>
            </a:r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 * I</a:t>
            </a:r>
            <a:r>
              <a:rPr lang="en-US" altLang="en-US" baseline="-25000">
                <a:latin typeface="Times New Roman" panose="02020603050405020304" charset="0"/>
                <a:cs typeface="Times New Roman" panose="02020603050405020304" charset="0"/>
              </a:rPr>
              <a:t>patch</a:t>
            </a:r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 * I</a:t>
            </a:r>
            <a:r>
              <a:rPr lang="en-US" altLang="en-US" baseline="-25000">
                <a:latin typeface="Times New Roman" panose="02020603050405020304" charset="0"/>
                <a:cs typeface="Times New Roman" panose="02020603050405020304" charset="0"/>
              </a:rPr>
              <a:t>assy</a:t>
            </a:r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 * I</a:t>
            </a:r>
            <a:r>
              <a:rPr lang="en-US" altLang="en-US" baseline="-25000">
                <a:latin typeface="Times New Roman" panose="02020603050405020304" charset="0"/>
                <a:cs typeface="Times New Roman" panose="02020603050405020304" charset="0"/>
              </a:rPr>
              <a:t>limbdkr</a:t>
            </a:r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 * I</a:t>
            </a:r>
            <a:r>
              <a:rPr lang="en-US" altLang="en-US" baseline="-25000">
                <a:latin typeface="Times New Roman" panose="02020603050405020304" charset="0"/>
                <a:cs typeface="Times New Roman" panose="02020603050405020304" charset="0"/>
              </a:rPr>
              <a:t>excess</a:t>
            </a:r>
            <a:endParaRPr lang="en-US" altLang="en-US" baseline="-25000"/>
          </a:p>
          <a:p>
            <a:endParaRPr lang="en-US" altLang="en-US" baseline="-250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en-US"/>
              <a:t>We have to Isolate I</a:t>
            </a:r>
            <a:r>
              <a:rPr lang="en-US" altLang="en-US" baseline="-25000"/>
              <a:t>sun</a:t>
            </a:r>
            <a:r>
              <a:rPr lang="en-US" altLang="en-US"/>
              <a:t> which has only solar features.</a:t>
            </a:r>
            <a:endParaRPr lang="en-US" alt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en-US"/>
              <a:t>We have to characterize I</a:t>
            </a:r>
            <a:r>
              <a:rPr lang="en-US" altLang="en-US" baseline="-25000"/>
              <a:t>excess</a:t>
            </a:r>
            <a:r>
              <a:rPr lang="en-US" altLang="en-US"/>
              <a:t> in some way.</a:t>
            </a:r>
            <a:endParaRPr lang="en-US" altLang="en-US"/>
          </a:p>
          <a:p>
            <a:pPr marL="285750" indent="-285750">
              <a:buFont typeface="Wingdings" panose="05000000000000000000" charset="0"/>
              <a:buChar char=""/>
            </a:pPr>
            <a:r>
              <a:rPr lang="en-US" altLang="en-US"/>
              <a:t>I</a:t>
            </a:r>
            <a:r>
              <a:rPr lang="en-US" altLang="en-US" baseline="-25000"/>
              <a:t>patch</a:t>
            </a:r>
            <a:r>
              <a:rPr lang="en-US" altLang="en-US"/>
              <a:t> to be corrected by JJ</a:t>
            </a:r>
            <a:endParaRPr lang="en-US" altLang="en-US"/>
          </a:p>
          <a:p>
            <a:pPr marL="285750" indent="-285750">
              <a:buFont typeface="Wingdings" panose="05000000000000000000" charset="0"/>
              <a:buChar char=""/>
            </a:pPr>
            <a:r>
              <a:rPr lang="en-US" altLang="en-US"/>
              <a:t>I</a:t>
            </a:r>
            <a:r>
              <a:rPr lang="en-US" altLang="en-US" baseline="-25000"/>
              <a:t>assy</a:t>
            </a:r>
            <a:r>
              <a:rPr lang="en-US" altLang="en-US"/>
              <a:t>: Flat from Nived</a:t>
            </a:r>
            <a:endParaRPr lang="en-US" altLang="en-US"/>
          </a:p>
          <a:p>
            <a:pPr marL="285750" indent="-285750">
              <a:buFont typeface="Wingdings" panose="05000000000000000000" charset="0"/>
              <a:buChar char=""/>
            </a:pPr>
            <a:r>
              <a:rPr lang="en-US" altLang="en-US"/>
              <a:t>I</a:t>
            </a:r>
            <a:r>
              <a:rPr lang="en-US" altLang="en-US" baseline="-25000"/>
              <a:t>limbdkr</a:t>
            </a:r>
            <a:r>
              <a:rPr lang="en-US" altLang="en-US"/>
              <a:t>: From Nived</a:t>
            </a:r>
            <a:endParaRPr lang="en-US" alt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497820" cy="750570"/>
          </a:xfrm>
        </p:spPr>
        <p:txBody>
          <a:bodyPr>
            <a:noAutofit/>
          </a:bodyPr>
          <a:p>
            <a:r>
              <a:rPr lang="en-US" altLang="en-US" sz="2400">
                <a:sym typeface="+mn-ea"/>
              </a:rPr>
              <a:t>NB06 assymmetry profiles and NB06 limb darkeining profiles from Nived</a:t>
            </a:r>
            <a:endParaRPr lang="en-US" altLang="en-US" sz="2400">
              <a:sym typeface="+mn-ea"/>
            </a:endParaRPr>
          </a:p>
        </p:txBody>
      </p:sp>
      <p:sp>
        <p:nvSpPr>
          <p:cNvPr id="6" name="Text Box 5"/>
          <p:cNvSpPr txBox="1"/>
          <p:nvPr/>
        </p:nvSpPr>
        <p:spPr>
          <a:xfrm>
            <a:off x="11217275" y="28575"/>
            <a:ext cx="767080" cy="229870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p>
            <a:r>
              <a:rPr lang="en-US" altLang="en-US" sz="900">
                <a:sym typeface="+mn-ea"/>
              </a:rPr>
              <a:t>2026-08-05</a:t>
            </a:r>
            <a:endParaRPr lang="en-US" altLang="en-US" sz="900">
              <a:sym typeface="+mn-ea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7070" y="645160"/>
            <a:ext cx="3194685" cy="1325880"/>
          </a:xfrm>
        </p:spPr>
        <p:txBody>
          <a:bodyPr>
            <a:normAutofit fontScale="90000"/>
          </a:bodyPr>
          <a:p>
            <a:r>
              <a:rPr lang="en-US" altLang="en-US"/>
              <a:t>Median stack (NB06)</a:t>
            </a:r>
            <a:endParaRPr lang="en-US" altLang="en-US"/>
          </a:p>
        </p:txBody>
      </p:sp>
      <p:pic>
        <p:nvPicPr>
          <p:cNvPr id="5" name="Content Placeholder 4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4931410" y="405130"/>
            <a:ext cx="7228205" cy="6309995"/>
          </a:xfrm>
          <a:prstGeom prst="rect">
            <a:avLst/>
          </a:prstGeom>
        </p:spPr>
      </p:pic>
      <p:sp>
        <p:nvSpPr>
          <p:cNvPr id="6" name="Text Box 5"/>
          <p:cNvSpPr txBox="1"/>
          <p:nvPr/>
        </p:nvSpPr>
        <p:spPr>
          <a:xfrm>
            <a:off x="803275" y="2431415"/>
            <a:ext cx="3803015" cy="1476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en-US">
                <a:sym typeface="+mn-ea"/>
              </a:rPr>
              <a:t>Median stack (NB06)</a:t>
            </a:r>
            <a:endParaRPr lang="en-US" altLang="en-US">
              <a:sym typeface="+mn-ea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en-US">
                <a:sym typeface="+mn-ea"/>
              </a:rPr>
              <a:t>All data 10-12 Apr 2025</a:t>
            </a:r>
            <a:endParaRPr lang="en-US" altLang="en-US">
              <a:sym typeface="+mn-ea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en-US">
                <a:sym typeface="+mn-ea"/>
              </a:rPr>
              <a:t>Limb darkening and large scale assymmetry included</a:t>
            </a:r>
            <a:endParaRPr lang="en-US" altLang="en-US"/>
          </a:p>
          <a:p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endParaRPr lang="en-US"/>
          </a:p>
        </p:txBody>
      </p:sp>
      <p:pic>
        <p:nvPicPr>
          <p:cNvPr id="4" name="Picture 3" descr="Figure_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675" y="890270"/>
            <a:ext cx="12014200" cy="2940685"/>
          </a:xfrm>
          <a:prstGeom prst="rect">
            <a:avLst/>
          </a:prstGeom>
        </p:spPr>
      </p:pic>
      <p:pic>
        <p:nvPicPr>
          <p:cNvPr id="5" name="Picture 4" descr="Figure_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75" y="3866515"/>
            <a:ext cx="12014200" cy="2940685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6265" y="7620"/>
            <a:ext cx="10515600" cy="1325563"/>
          </a:xfrm>
        </p:spPr>
        <p:txBody>
          <a:bodyPr/>
          <a:p>
            <a:r>
              <a:rPr lang="en-US" altLang="en-US" sz="2800"/>
              <a:t>Post limb darkening correction-</a:t>
            </a:r>
            <a:endParaRPr lang="en-US" altLang="en-US" sz="2800"/>
          </a:p>
        </p:txBody>
      </p:sp>
      <p:sp>
        <p:nvSpPr>
          <p:cNvPr id="6" name="Text Box 5"/>
          <p:cNvSpPr txBox="1"/>
          <p:nvPr/>
        </p:nvSpPr>
        <p:spPr>
          <a:xfrm>
            <a:off x="5420360" y="306705"/>
            <a:ext cx="6424930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US" sz="1600"/>
              <a:t>Most of the diagonal stripes are gone. Major patches are gone. Small scale artefacts are still visible. Blurring 15px might help.</a:t>
            </a:r>
            <a:endParaRPr lang="en-US" altLang="en-US" sz="16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Content Placeholder 3" descr="output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4731385" y="699135"/>
            <a:ext cx="7539990" cy="5655945"/>
          </a:xfrm>
          <a:prstGeom prst="rect">
            <a:avLst/>
          </a:prstGeom>
        </p:spPr>
      </p:pic>
      <p:sp>
        <p:nvSpPr>
          <p:cNvPr id="6" name="Content Placeholder 2"/>
          <p:cNvSpPr>
            <a:spLocks noGrp="1"/>
          </p:cNvSpPr>
          <p:nvPr/>
        </p:nvSpPr>
        <p:spPr>
          <a:xfrm>
            <a:off x="647700" y="1825625"/>
            <a:ext cx="4693285" cy="4351655"/>
          </a:xfrm>
          <a:prstGeom prst="rect">
            <a:avLst/>
          </a:prstGeom>
        </p:spPr>
        <p:txBody>
          <a:bodyPr vert="horz" lIns="91440" tIns="45720" rIns="91440" bIns="45720" rtlCol="0">
            <a:normAutofit fontScale="900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charset="0"/>
                <a:ea typeface="+mn-ea"/>
                <a:cs typeface="Calibri" panose="020F050202020403020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charset="0"/>
                <a:ea typeface="+mn-ea"/>
                <a:cs typeface="Calibri" panose="020F050202020403020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charset="0"/>
                <a:ea typeface="+mn-ea"/>
                <a:cs typeface="Calibri" panose="020F050202020403020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charset="0"/>
                <a:ea typeface="+mn-ea"/>
                <a:cs typeface="Calibri" panose="020F050202020403020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charset="0"/>
                <a:ea typeface="+mn-ea"/>
                <a:cs typeface="Calibri" panose="020F050202020403020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en-US">
                <a:sym typeface="+mn-ea"/>
              </a:rPr>
              <a:t>The calibration frames are generated without masking any active regions.</a:t>
            </a:r>
            <a:endParaRPr lang="en-US" altLang="en-US"/>
          </a:p>
          <a:p>
            <a:r>
              <a:rPr lang="en-US" altLang="en-US">
                <a:sym typeface="+mn-ea"/>
              </a:rPr>
              <a:t>Initial assumption was that the active regions will be covered by sufficient amount of QS.</a:t>
            </a:r>
            <a:endParaRPr lang="en-US" altLang="en-US"/>
          </a:p>
          <a:p>
            <a:r>
              <a:rPr lang="en-US" altLang="en-US">
                <a:sym typeface="+mn-ea"/>
              </a:rPr>
              <a:t>A bracket of all NB06 images within 3 days are used for the calibration.</a:t>
            </a:r>
            <a:endParaRPr lang="en-US" altLang="en-US"/>
          </a:p>
          <a:p>
            <a:r>
              <a:rPr lang="en-US" altLang="en-US">
                <a:sym typeface="+mn-ea"/>
              </a:rPr>
              <a:t>On going through the frames rapidly, it is clear that signatures of ARs exist in the calibration file.</a:t>
            </a:r>
            <a:endParaRPr lang="en-US" altLang="en-US"/>
          </a:p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887095"/>
          </a:xfrm>
        </p:spPr>
        <p:txBody>
          <a:bodyPr/>
          <a:p>
            <a:r>
              <a:rPr lang="en-US" altLang="en-US" sz="3600"/>
              <a:t>Solar features in calibration frames</a:t>
            </a:r>
            <a:endParaRPr lang="en-US" altLang="en-US" sz="3600"/>
          </a:p>
        </p:txBody>
      </p:sp>
      <p:sp>
        <p:nvSpPr>
          <p:cNvPr id="3" name="Text Box 2"/>
          <p:cNvSpPr txBox="1"/>
          <p:nvPr/>
        </p:nvSpPr>
        <p:spPr>
          <a:xfrm>
            <a:off x="5692140" y="6024880"/>
            <a:ext cx="503110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en-US"/>
              <a:t>Go to slideshow mode to play animation</a:t>
            </a:r>
            <a:endParaRPr lang="en-US" alt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en-US"/>
              <a:t>Removing solar features</a:t>
            </a:r>
            <a:endParaRPr lang="en-US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7700" y="1825625"/>
            <a:ext cx="4563745" cy="4351655"/>
          </a:xfrm>
        </p:spPr>
        <p:txBody>
          <a:bodyPr>
            <a:normAutofit lnSpcReduction="20000"/>
          </a:bodyPr>
          <a:p>
            <a:r>
              <a:rPr lang="en-US" altLang="en-US"/>
              <a:t>Noise level for HMI Blos is |B|</a:t>
            </a:r>
            <a:r>
              <a:rPr lang="" altLang="en-US"/>
              <a:t>/mu</a:t>
            </a:r>
            <a:r>
              <a:rPr lang="en-US" altLang="en-US"/>
              <a:t> &lt; 10G</a:t>
            </a:r>
            <a:endParaRPr lang="en-US" altLang="en-US"/>
          </a:p>
          <a:p>
            <a:r>
              <a:rPr lang="en-US" altLang="en-US"/>
              <a:t>Threshold is set for |B|</a:t>
            </a:r>
            <a:r>
              <a:rPr lang="" altLang="en-US"/>
              <a:t>/mu</a:t>
            </a:r>
            <a:r>
              <a:rPr lang="en-US" altLang="en-US"/>
              <a:t> &gt; 50</a:t>
            </a:r>
            <a:endParaRPr lang="en-US" altLang="en-US"/>
          </a:p>
          <a:p>
            <a:r>
              <a:rPr lang="en-US" altLang="en-US"/>
              <a:t>HMI BLOS are gaussian blurred to match SUIT resolution.</a:t>
            </a:r>
            <a:endParaRPr lang="en-US" altLang="en-US"/>
          </a:p>
          <a:p>
            <a:r>
              <a:rPr lang="en-US" altLang="en-US"/>
              <a:t>Masked regions are removed and calib frames are generated.</a:t>
            </a:r>
            <a:endParaRPr lang="en-US" altLang="en-US"/>
          </a:p>
          <a:p>
            <a:r>
              <a:rPr lang="en-US" altLang="en-US"/>
              <a:t>Calib frame generation for first 2 days is faulty.</a:t>
            </a:r>
            <a:endParaRPr lang="en-US" altLang="en-US"/>
          </a:p>
        </p:txBody>
      </p:sp>
      <p:pic>
        <p:nvPicPr>
          <p:cNvPr id="5" name="Picture 4" descr="SUT_T25_0557_000788_Lev2.0_2025-03-22T16.11.36.730_0971NB06.fits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22900" y="1457960"/>
            <a:ext cx="6781800" cy="508635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Picture 3" descr="output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91405" y="996315"/>
            <a:ext cx="7155815" cy="5367655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en-US"/>
              <a:t>Removing solar features</a:t>
            </a:r>
            <a:endParaRPr lang="en-US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7700" y="1825625"/>
            <a:ext cx="4563745" cy="4351655"/>
          </a:xfrm>
        </p:spPr>
        <p:txBody>
          <a:bodyPr>
            <a:normAutofit lnSpcReduction="20000"/>
          </a:bodyPr>
          <a:p>
            <a:r>
              <a:rPr lang="en-US" altLang="en-US"/>
              <a:t>Noise level for HMI Blos is |B| &lt; 10G</a:t>
            </a:r>
            <a:endParaRPr lang="en-US" altLang="en-US"/>
          </a:p>
          <a:p>
            <a:r>
              <a:rPr lang="en-US" altLang="en-US"/>
              <a:t>Threshold is set for |B| &gt; 50</a:t>
            </a:r>
            <a:endParaRPr lang="en-US" altLang="en-US"/>
          </a:p>
          <a:p>
            <a:r>
              <a:rPr lang="en-US" altLang="en-US"/>
              <a:t>HMI BLOS are gaussian blurred to match SUIT resolution.</a:t>
            </a:r>
            <a:endParaRPr lang="en-US" altLang="en-US"/>
          </a:p>
          <a:p>
            <a:r>
              <a:rPr lang="en-US" altLang="en-US"/>
              <a:t>Masked regions are removed and calib frames are generated.</a:t>
            </a:r>
            <a:endParaRPr lang="en-US" altLang="en-US"/>
          </a:p>
          <a:p>
            <a:r>
              <a:rPr lang="en-US" altLang="en-US"/>
              <a:t>Calib frame generation for first 2 days is faulty.</a:t>
            </a:r>
            <a:endParaRPr lang="en-US" altLang="en-US"/>
          </a:p>
        </p:txBody>
      </p:sp>
      <p:sp>
        <p:nvSpPr>
          <p:cNvPr id="6" name="Text Box 5"/>
          <p:cNvSpPr txBox="1"/>
          <p:nvPr/>
        </p:nvSpPr>
        <p:spPr>
          <a:xfrm>
            <a:off x="5692140" y="6024880"/>
            <a:ext cx="503110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en-US"/>
              <a:t>Go to slideshow mode to play animation</a:t>
            </a:r>
            <a:endParaRPr lang="en-US" alt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7700" y="1825625"/>
            <a:ext cx="3477260" cy="4351655"/>
          </a:xfrm>
        </p:spPr>
        <p:txBody>
          <a:bodyPr/>
          <a:p>
            <a:r>
              <a:rPr lang="en-US" altLang="en-US"/>
              <a:t>Patches are corrected-</a:t>
            </a:r>
            <a:endParaRPr lang="en-US" altLang="en-US"/>
          </a:p>
          <a:p>
            <a:r>
              <a:rPr lang="en-US" altLang="en-US"/>
              <a:t>Applied Limb darkening correction, and large scale flat correction.</a:t>
            </a:r>
            <a:endParaRPr lang="en-US" altLang="en-US"/>
          </a:p>
        </p:txBody>
      </p:sp>
      <p:pic>
        <p:nvPicPr>
          <p:cNvPr id="5" name="Picture 4" descr="SUT_T25_0589_000878_Lev2.0_2025-04-22T08.04.48.547_0971NB06.fits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52060" y="909955"/>
            <a:ext cx="7155180" cy="5366385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1645" y="341630"/>
            <a:ext cx="10515600" cy="923290"/>
          </a:xfrm>
        </p:spPr>
        <p:txBody>
          <a:bodyPr>
            <a:normAutofit/>
          </a:bodyPr>
          <a:p>
            <a:r>
              <a:rPr lang="en-US" altLang="en-US"/>
              <a:t>Patches are corrected</a:t>
            </a:r>
            <a:endParaRPr lang="en-US" alt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 Black-Arial">
      <a:majorFont>
        <a:latin typeface="Arial Black"/>
        <a:ea typeface=""/>
        <a:cs typeface=""/>
        <a:font script="Jpan" typeface="ＭＳ ゴシック"/>
        <a:font script="Hang" typeface="굴림"/>
        <a:font script="Hans" typeface="宋体"/>
        <a:font script="Hant" typeface="新細明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宋体"/>
        <a:ea typeface=""/>
        <a:cs typeface=""/>
        <a:font script="Jpan" typeface="游ゴシック Light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宋体"/>
        <a:ea typeface=""/>
        <a:cs typeface=""/>
        <a:font script="Jpan" typeface="游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2891</Words>
  <Application>WPS Presentation</Application>
  <PresentationFormat>宽屏</PresentationFormat>
  <Paragraphs>97</Paragraphs>
  <Slides>14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24" baseType="lpstr">
      <vt:lpstr>Arial</vt:lpstr>
      <vt:lpstr>SimSun</vt:lpstr>
      <vt:lpstr>Wingdings</vt:lpstr>
      <vt:lpstr>Calibri</vt:lpstr>
      <vt:lpstr>Times New Roman</vt:lpstr>
      <vt:lpstr>Wingdings</vt:lpstr>
      <vt:lpstr>微软雅黑</vt:lpstr>
      <vt:lpstr>Arial Unicode MS</vt:lpstr>
      <vt:lpstr>宋体</vt:lpstr>
      <vt:lpstr>Office Theme</vt:lpstr>
      <vt:lpstr>Patch and large scale correction</vt:lpstr>
      <vt:lpstr>Purpose: Find optimal blur radius to remove solar features from calib frame-  50-75 px seems most optimal.</vt:lpstr>
      <vt:lpstr>Standard deviation within a box at different levels of blurring</vt:lpstr>
      <vt:lpstr>NB02</vt:lpstr>
      <vt:lpstr>NB02: Same date range</vt:lpstr>
      <vt:lpstr>NB05</vt:lpstr>
      <vt:lpstr>Issues faced and possible solutions</vt:lpstr>
      <vt:lpstr>NB06 assymmetry profiles and NB06 limb darkeining profiles from Nived</vt:lpstr>
      <vt:lpstr>Median stack (NB06)</vt:lpstr>
      <vt:lpstr>Post limb darkening correction-</vt:lpstr>
      <vt:lpstr>Solar features in calibration frames</vt:lpstr>
      <vt:lpstr>Removing solar features</vt:lpstr>
      <vt:lpstr>Removing solar features</vt:lpstr>
      <vt:lpstr>Patches are corrected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sarkar</dc:creator>
  <cp:lastModifiedBy>sarkar</cp:lastModifiedBy>
  <cp:revision>46</cp:revision>
  <dcterms:created xsi:type="dcterms:W3CDTF">2026-08-18T13:51:15Z</dcterms:created>
  <dcterms:modified xsi:type="dcterms:W3CDTF">2026-08-18T13:51:15Z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1033-11.1.0.9505</vt:lpwstr>
  </property>
</Properties>
</file>